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8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/>
    <p:restoredTop sz="94610"/>
  </p:normalViewPr>
  <p:slideViewPr>
    <p:cSldViewPr snapToGrid="0" snapToObjects="1">
      <p:cViewPr>
        <p:scale>
          <a:sx n="140" d="100"/>
          <a:sy n="140" d="100"/>
        </p:scale>
        <p:origin x="29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60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homas_Bayes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BAYES' THEOREM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update what you believe when a new clue shows up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look at a practical use case first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07008" y="470916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91056" y="470916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75104" y="470916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59152" y="470916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idea behind all of it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 with a belief about how likely something is. Then a </a:t>
            </a: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clue</a:t>
            </a: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arrives</a:t>
            </a:r>
            <a:r>
              <a:rPr lang="en-US" sz="20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Bayes theorem is a way </a:t>
            </a: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update your </a:t>
            </a:r>
            <a:r>
              <a:rPr lang="en-US" sz="20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—based on the old belief  with the support from the  new clue</a:t>
            </a: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belief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thought 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320040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61772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clue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you just saw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320040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50392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belief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6118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6118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/>
              <a:t>This is a high level view of what Bayes theorem does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app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claims it can look at any photo and tell you: is this a real dog, or a wolf?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flashes a warning: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4754880" cy="1371600"/>
          </a:xfrm>
          <a:prstGeom prst="roundRect">
            <a:avLst>
              <a:gd name="adj" fmla="val 10000"/>
            </a:avLst>
          </a:prstGeom>
          <a:solidFill>
            <a:srgbClr val="C045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WOLF!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09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i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</a:t>
            </a:r>
            <a:r>
              <a:rPr lang="en-US" sz="17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that, how </a:t>
            </a:r>
            <a:r>
              <a:rPr lang="en-US" sz="1700" i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 you should be? 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21040" y="1234440"/>
            <a:ext cx="2743200" cy="4937760"/>
          </a:xfrm>
          <a:prstGeom prst="roundRect">
            <a:avLst>
              <a:gd name="adj" fmla="val 11667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9AA6BC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49640" y="1691640"/>
            <a:ext cx="2286000" cy="402336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54964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WildCheck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69680" y="251460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869680" y="25146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🐺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8869680" y="43434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C045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869680" y="4343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WOLF!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facts about our Wolf catcher app!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10/1000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840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out of 1000 photos are of wolves, 990 are dogs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480560" y="20574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480560" y="25146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840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Wofls are caught as wolfs correctly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44348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out of 10 wolves identified correctly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20574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0" y="25146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0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840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out of 100 dogs are wrongly passed as Wolfs.</a:t>
            </a:r>
            <a:endParaRPr lang="en-US" sz="19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7FEC6967-6563-1F3B-F1E7-90ACD5C89DB5}"/>
              </a:ext>
            </a:extLst>
          </p:cNvPr>
          <p:cNvSpPr txBox="1"/>
          <p:nvPr/>
        </p:nvSpPr>
        <p:spPr>
          <a:xfrm>
            <a:off x="8503920" y="45720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dogs out of 990 dogs might get identified as wolfs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just shouted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023360" y="2331720"/>
            <a:ext cx="4114800" cy="1188720"/>
          </a:xfrm>
          <a:prstGeom prst="roundRect">
            <a:avLst>
              <a:gd name="adj" fmla="val 11538"/>
            </a:avLst>
          </a:prstGeom>
          <a:solidFill>
            <a:srgbClr val="C045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023360" y="23317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WOLF!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So... is it really a wolf?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feeling says:  </a:t>
            </a:r>
            <a:r>
              <a:rPr lang="en-US" sz="20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app is 90% accurate, so probably yes.”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investigate the truth!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count 1000 photos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percentages for a second. Picture 1000 real photos going into the app.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3728" y="26060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28048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8A1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990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2373968" y="2880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94408" y="26060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168728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7814648" y="2880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wolves
</a:t>
            </a: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rare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Alarms from the 10 real wolves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catches 90% of them. So of the 10 wolves...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566928" cy="566928"/>
          </a:xfrm>
          <a:prstGeom prst="ellipse">
            <a:avLst/>
          </a:prstGeom>
          <a:solidFill>
            <a:srgbClr val="6B7280"/>
          </a:solidFill>
          <a:ln w="50800">
            <a:solidFill>
              <a:srgbClr val="C04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37360" y="2286000"/>
            <a:ext cx="566928" cy="566928"/>
          </a:xfrm>
          <a:prstGeom prst="ellipse">
            <a:avLst/>
          </a:prstGeom>
          <a:solidFill>
            <a:srgbClr val="6B7280"/>
          </a:solidFill>
          <a:ln w="50800">
            <a:solidFill>
              <a:srgbClr val="C04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0" y="2286000"/>
            <a:ext cx="566928" cy="566928"/>
          </a:xfrm>
          <a:prstGeom prst="ellipse">
            <a:avLst/>
          </a:prstGeom>
          <a:solidFill>
            <a:srgbClr val="6B7280"/>
          </a:solidFill>
          <a:ln w="50800">
            <a:solidFill>
              <a:srgbClr val="C04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83280" y="2286000"/>
            <a:ext cx="566928" cy="566928"/>
          </a:xfrm>
          <a:prstGeom prst="ellipse">
            <a:avLst/>
          </a:prstGeom>
          <a:solidFill>
            <a:srgbClr val="6B7280"/>
          </a:solidFill>
          <a:ln w="50800">
            <a:solidFill>
              <a:srgbClr val="C04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0" y="2286000"/>
            <a:ext cx="566928" cy="566928"/>
          </a:xfrm>
          <a:prstGeom prst="ellipse">
            <a:avLst/>
          </a:prstGeom>
          <a:solidFill>
            <a:srgbClr val="6B7280"/>
          </a:solidFill>
          <a:ln w="50800">
            <a:solidFill>
              <a:srgbClr val="C04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0" y="2286000"/>
            <a:ext cx="566928" cy="566928"/>
          </a:xfrm>
          <a:prstGeom prst="ellipse">
            <a:avLst/>
          </a:prstGeom>
          <a:solidFill>
            <a:srgbClr val="6B7280"/>
          </a:solidFill>
          <a:ln w="50800">
            <a:solidFill>
              <a:srgbClr val="C04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52160" y="2286000"/>
            <a:ext cx="566928" cy="566928"/>
          </a:xfrm>
          <a:prstGeom prst="ellipse">
            <a:avLst/>
          </a:prstGeom>
          <a:solidFill>
            <a:srgbClr val="6B7280"/>
          </a:solidFill>
          <a:ln w="50800">
            <a:solidFill>
              <a:srgbClr val="C04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75120" y="2286000"/>
            <a:ext cx="566928" cy="566928"/>
          </a:xfrm>
          <a:prstGeom prst="ellipse">
            <a:avLst/>
          </a:prstGeom>
          <a:solidFill>
            <a:srgbClr val="6B7280"/>
          </a:solidFill>
          <a:ln w="50800">
            <a:solidFill>
              <a:srgbClr val="C04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0" y="2286000"/>
            <a:ext cx="566928" cy="566928"/>
          </a:xfrm>
          <a:prstGeom prst="ellipse">
            <a:avLst/>
          </a:prstGeom>
          <a:solidFill>
            <a:srgbClr val="6B7280"/>
          </a:solidFill>
          <a:ln w="50800">
            <a:solidFill>
              <a:srgbClr val="C04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21040" y="2286000"/>
            <a:ext cx="566928" cy="566928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them set off the alarm  (red ring)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10698480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097280" y="42519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8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25196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alarms
</a:t>
            </a:r>
            <a:r>
              <a:rPr lang="en-US" sz="17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“WOLF!” shouts, on photos that really were wolves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Alarms from the 990 dogs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wrongly alarms on 10% of dogs. And 10% of 990 is a big number...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48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of  </a:t>
            </a:r>
            <a:r>
              <a:rPr lang="en-US" sz="2400" b="1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  = 99 dogs are flagged as Wolfs!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0698480" cy="2743200"/>
          </a:xfrm>
          <a:prstGeom prst="roundRect">
            <a:avLst>
              <a:gd name="adj" fmla="val 4000"/>
            </a:avLst>
          </a:prstGeom>
          <a:solidFill>
            <a:srgbClr val="C045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35204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12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52044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
</a:t>
            </a:r>
            <a:r>
              <a:rPr lang="en-US" sz="1800" dirty="0">
                <a:solidFill>
                  <a:srgbClr val="F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 the app wrongly screamed “</a:t>
            </a:r>
            <a:r>
              <a:rPr lang="en-US" sz="1800" b="1" dirty="0">
                <a:solidFill>
                  <a:srgbClr val="F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</a:t>
            </a:r>
            <a:r>
              <a:rPr lang="en-US" sz="1800">
                <a:solidFill>
                  <a:srgbClr val="F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!” </a:t>
            </a:r>
            <a:r>
              <a:rPr lang="en-US" sz="1800" dirty="0">
                <a:solidFill>
                  <a:srgbClr val="F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already far more than the 9 real ones.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truth!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alarm the app ever rings: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280160" y="205740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28016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alarms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23317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434840" y="205740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43484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0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3317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7589520" y="205740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58952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total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06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 a wolf =  </a:t>
            </a: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108</a:t>
            </a: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  </a:t>
            </a:r>
            <a:r>
              <a:rPr lang="en-US" sz="4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gut said </a:t>
            </a:r>
            <a:r>
              <a:rPr lang="en-US" sz="1800" i="1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~90%. </a:t>
            </a:r>
            <a:r>
              <a:rPr lang="en-US" sz="18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says about </a:t>
            </a:r>
            <a:r>
              <a:rPr lang="en-US" sz="18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8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r>
              <a:rPr lang="en-US" sz="1800" i="1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r>
              <a:rPr lang="en-US" sz="1800" i="1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Bayes</a:t>
            </a:r>
            <a:r>
              <a:rPr lang="en-US" sz="1800" i="1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explains how this gap arises.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huge gap?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Wolves were </a:t>
            </a: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to begin with</a:t>
            </a: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There are so many more dogs that even a small mistake rate on dogs (10% of 990) produces way more false alarms than there are true wolves in the whole world.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310896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mistake real doctors, juries and engineers make all the time: they hear “</a:t>
            </a:r>
            <a:r>
              <a:rPr lang="en-US" sz="1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accurate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and forget how rare the thing was to start with.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everything has a name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words that scared you are just the things we already counted.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2240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(Truth already known)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889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believed before the clue — how common wolves are.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19456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1000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172200" y="201168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39" y="2240280"/>
            <a:ext cx="45615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(Ex: Probability of detecting wolf given wolf images)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889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clue points at your idea — the alarm rate for wolves.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738360" y="219456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51560" y="4343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892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clue happens at all — </a:t>
            </a:r>
            <a:r>
              <a:rPr lang="en-US" sz="14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that said wolf per 1000 alarms in total.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29768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 / 1000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172200" y="41148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92240" y="4343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(final probability with evidence)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892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updated belief after the clue — what we were really after.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738360" y="429768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9/108=8</a:t>
            </a: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 won't scare you now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the counting we already did, written in shorthand.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63040" y="2194560"/>
            <a:ext cx="9235440" cy="1691640"/>
          </a:xfrm>
          <a:prstGeom prst="roundRect">
            <a:avLst>
              <a:gd name="adj" fmla="val 6486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645920" y="23317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P(wolf | alarm)</a:t>
            </a: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 P(alarm | wolf) × P(wolf)  /  </a:t>
            </a:r>
            <a:r>
              <a:rPr lang="en-US" sz="2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P(total wolf alarms)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315468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r>
              <a:rPr lang="en-US" sz="16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likelihood × prior   /   evidence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4206240"/>
            <a:ext cx="9235440" cy="13716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45920" y="4206240"/>
            <a:ext cx="8869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( 0.90 × 0.01 )  /  0.108   =   0.083   ≈   </a:t>
            </a: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9 out of 108. The formula is a summary of something you </a:t>
            </a:r>
            <a:r>
              <a:rPr lang="en-US" sz="1500" i="1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understand.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more wolfs are present?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611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app, same 90% and 10% rates. But now imagine wolves aren't rare — </a:t>
            </a: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</a:t>
            </a: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photos are wolves (500 of 1000). Redo the count.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A61E3-8FD5-1E56-BA3D-76519DC8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848A88-4D39-EE5B-E8A5-E1B8B536B005}"/>
              </a:ext>
            </a:extLst>
          </p:cNvPr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Suddenly your posterior improves!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B4DE4A-9091-31DD-7D8D-38A70AFF4787}"/>
              </a:ext>
            </a:extLst>
          </p:cNvPr>
          <p:cNvSpPr txBox="1"/>
          <p:nvPr/>
        </p:nvSpPr>
        <p:spPr>
          <a:xfrm>
            <a:off x="731520" y="1325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37B585-E923-0E10-6167-2C89D003733F}"/>
              </a:ext>
            </a:extLst>
          </p:cNvPr>
          <p:cNvSpPr/>
          <p:nvPr/>
        </p:nvSpPr>
        <p:spPr>
          <a:xfrm>
            <a:off x="731520" y="1709928"/>
            <a:ext cx="52578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6A8BBC-0651-DC5C-4494-AA302C5EFA02}"/>
              </a:ext>
            </a:extLst>
          </p:cNvPr>
          <p:cNvSpPr txBox="1"/>
          <p:nvPr/>
        </p:nvSpPr>
        <p:spPr>
          <a:xfrm>
            <a:off x="1005840" y="209854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Wolves rare (10/1000)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A41786-E28B-AE98-52D6-1489C9F50E1A}"/>
              </a:ext>
            </a:extLst>
          </p:cNvPr>
          <p:cNvSpPr txBox="1"/>
          <p:nvPr/>
        </p:nvSpPr>
        <p:spPr>
          <a:xfrm>
            <a:off x="1005840" y="26929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true  vs  99 false alarms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2C5342-9575-E973-4DD5-A1E29BB0ADE2}"/>
              </a:ext>
            </a:extLst>
          </p:cNvPr>
          <p:cNvSpPr txBox="1"/>
          <p:nvPr/>
        </p:nvSpPr>
        <p:spPr>
          <a:xfrm>
            <a:off x="1005840" y="3072384"/>
            <a:ext cx="4709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0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6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3A31A2A-13B3-CD04-691B-A0C5A4BE1412}"/>
              </a:ext>
            </a:extLst>
          </p:cNvPr>
          <p:cNvSpPr/>
          <p:nvPr/>
        </p:nvSpPr>
        <p:spPr>
          <a:xfrm>
            <a:off x="6172200" y="1709928"/>
            <a:ext cx="52578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6FC5819-9F30-3AE5-2FD7-AFC94F9C0719}"/>
              </a:ext>
            </a:extLst>
          </p:cNvPr>
          <p:cNvSpPr txBox="1"/>
          <p:nvPr/>
        </p:nvSpPr>
        <p:spPr>
          <a:xfrm>
            <a:off x="6446520" y="209854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Wolves common (500/1000)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84647C7-627C-E35B-92F7-1AAB68F550E4}"/>
              </a:ext>
            </a:extLst>
          </p:cNvPr>
          <p:cNvSpPr txBox="1"/>
          <p:nvPr/>
        </p:nvSpPr>
        <p:spPr>
          <a:xfrm>
            <a:off x="6446520" y="26929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true  vs  50 false alarms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98D3C60-8ED1-1B4C-F647-1AECA26051D4}"/>
              </a:ext>
            </a:extLst>
          </p:cNvPr>
          <p:cNvSpPr txBox="1"/>
          <p:nvPr/>
        </p:nvSpPr>
        <p:spPr>
          <a:xfrm>
            <a:off x="6446520" y="3072384"/>
            <a:ext cx="4709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6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B3157E-9081-BCED-EEA7-E4363577B114}"/>
              </a:ext>
            </a:extLst>
          </p:cNvPr>
          <p:cNvSpPr txBox="1"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app, same accuracy — answer flips from 8% to 90%, purely because </a:t>
            </a:r>
            <a:r>
              <a:rPr lang="en-US" sz="16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 </a:t>
            </a: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2371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clue to many clues at once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after Bayes — and the idea behind the first real spam filters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07008" y="461772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91056" y="46177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75104" y="461772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59152" y="461772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3975E5-5375-FCA7-9A55-B77ACE0854CD}"/>
              </a:ext>
            </a:extLst>
          </p:cNvPr>
          <p:cNvSpPr txBox="1"/>
          <p:nvPr/>
        </p:nvSpPr>
        <p:spPr>
          <a:xfrm>
            <a:off x="6656832" y="11704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</a:t>
            </a:r>
            <a:r>
              <a:rPr lang="en-US" sz="3800" b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off – Wolf images, let’s talk about spam filiters use case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46760" y="1609344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updated our belief from a single clue: the detector's </a:t>
            </a:r>
            <a:r>
              <a:rPr lang="en-US" sz="20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“Wolf!” </a:t>
            </a: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r>
              <a:rPr lang="en-US" sz="20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20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</a:t>
            </a: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0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spam email detection  isn’t based on one </a:t>
            </a: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— it's full of them.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0632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566160" y="30632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566160" y="3063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“winner”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0" y="30632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0" y="3063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“invoice”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235440" y="30632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235440" y="3063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“meeting”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6760" y="4974336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is its own little clue. Some lean spammy, some lean legit. How do we weigh them all together?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can't just count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wolves we counted every case. Here, the “cases” are every possible combination of words — and there are more of those than atoms </a:t>
            </a:r>
            <a:r>
              <a:rPr lang="en-US" sz="20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count!.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78892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need to have seen this exact email — this exact mix of words — many times before, just to count </a:t>
            </a: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it..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 is basically brand </a:t>
            </a: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new.  Compare this with Wolf/Dog case, there it was easy to count them, but here it is a different problem, where we need to figure out if the mail is spam from multiple words in it than the whole mail  as single unit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need a shortcut that lets us reuse what we know about words one at a time.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“naive” shortcut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bold, slightly-wrong assumption: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63040" y="2057400"/>
            <a:ext cx="9235440" cy="13716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737360" y="20574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 each word is </a:t>
            </a:r>
            <a:r>
              <a:rPr lang="en-US" sz="2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others — once you know if it's spam.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treats “free” and “money” as unrelated coincidences — even though real spam pairs them constantly. That pretend-independence is the “naive” part.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97280" y="48920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instead of the whole combination, you handle one word at a time — and just multiply.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filter learns per word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past email, it keeps just one number per word, per class — how often the word shows up.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463040" y="2148840"/>
            <a:ext cx="923544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737360" y="2148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SPAM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LEGIT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2926080"/>
            <a:ext cx="923544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73736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926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2926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463040" y="3794760"/>
            <a:ext cx="9235440" cy="868680"/>
          </a:xfrm>
          <a:prstGeom prst="rect">
            <a:avLst/>
          </a:prstGeom>
          <a:solidFill>
            <a:srgbClr val="E9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737360" y="3794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“meeting”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794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3794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“free” screams spam (0.60 vs 0.05).   “meeting” leans legit (0.40 vs 0.02).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prior we already knew: 5% of all email is spam.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a new email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contains “free”,  but not “meeting”. Weigh both stories by multiplying the nudges.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21945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SPAM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8892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× P(free) × P(no meeting)
</a:t>
            </a: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× 0.60 × 0.98
</a:t>
            </a:r>
            <a:r>
              <a:rPr lang="en-US" sz="26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0.0294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LEGIT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78892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× P(free) × P(no meeting)
</a:t>
            </a: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× 0.05 × 0.60
</a:t>
            </a:r>
            <a:r>
              <a:rPr lang="en-US" sz="26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0.0285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scores, almost tied — “free” pulled toward spam, but spam is rare to start with, which pulls back.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the scores into a probability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move as the wolves: divide the spam score by the total.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3716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737360" y="21031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0.0294</a:t>
            </a: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( </a:t>
            </a:r>
            <a:r>
              <a:rPr lang="en-US" sz="26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0.0294</a:t>
            </a: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6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0.0285</a:t>
            </a: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91840" y="37947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291840" y="37947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P(spam)  ≈  </a:t>
            </a: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nudged the belief; Naive Bayes just multiplied the nudges together. Add more words — add more nudges.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assumption, great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obviously aren't independent — yet Naive Bayes powered the first real spam filters. Why?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4688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918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cheap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886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multiply per-word numbers. No giant tables, works in a blink even on huge inboxes.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24688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006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2918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little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886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word per class — not one per combination. A modest pile of email is enough.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49640" y="24688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5496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2918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is enough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886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classify you only need spam to out-score legit. Even if the numbers are off, the winner is usually still right.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one-line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1280160"/>
          </a:xfrm>
          <a:prstGeom prst="roundRect">
            <a:avLst>
              <a:gd name="adj" fmla="val 8571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2011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updates a belief from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5146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updates it from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clues — by naively assuming they don't interact, so it can just multiply.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picture as before: new belief = old belief, nudged by each clue. Naive Bayes just nudges once per word.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in: </a:t>
            </a: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filters, sentiment analysis, document sorting, medical triage — anywhere you classify from lots of small clues.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FEDBEB-FC7D-ED95-2507-5B61E489C102}"/>
              </a:ext>
            </a:extLst>
          </p:cNvPr>
          <p:cNvSpPr txBox="1"/>
          <p:nvPr/>
        </p:nvSpPr>
        <p:spPr>
          <a:xfrm>
            <a:off x="822960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EQUATIONS</a:t>
            </a:r>
            <a:endParaRPr lang="en-US" sz="5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063D3F-2FBB-E036-2020-DB7FADED6BB1}"/>
              </a:ext>
            </a:extLst>
          </p:cNvPr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· Joint · Bayes' theorem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9239CA-776D-F5F0-3470-BF21C5AE136C}"/>
              </a:ext>
            </a:extLst>
          </p:cNvPr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wolf-and-spam story, now written in symbols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27BD03C-D8B4-435A-09F5-A9F3C02E51B3}"/>
              </a:ext>
            </a:extLst>
          </p:cNvPr>
          <p:cNvSpPr/>
          <p:nvPr/>
        </p:nvSpPr>
        <p:spPr>
          <a:xfrm>
            <a:off x="822960" y="461772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251F66-304D-6817-4C2F-17C5A76434DD}"/>
              </a:ext>
            </a:extLst>
          </p:cNvPr>
          <p:cNvSpPr/>
          <p:nvPr/>
        </p:nvSpPr>
        <p:spPr>
          <a:xfrm>
            <a:off x="1207008" y="461772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88D057-EC2E-93BE-14BF-3295E7EC3E0D}"/>
              </a:ext>
            </a:extLst>
          </p:cNvPr>
          <p:cNvSpPr/>
          <p:nvPr/>
        </p:nvSpPr>
        <p:spPr>
          <a:xfrm>
            <a:off x="1591056" y="461772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3A92400-F8CA-432F-6754-32DDC9E44CD7}"/>
              </a:ext>
            </a:extLst>
          </p:cNvPr>
          <p:cNvSpPr/>
          <p:nvPr/>
        </p:nvSpPr>
        <p:spPr>
          <a:xfrm>
            <a:off x="1975104" y="46177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594D9D6-889F-770C-8915-D7C01D70BCFF}"/>
              </a:ext>
            </a:extLst>
          </p:cNvPr>
          <p:cNvSpPr/>
          <p:nvPr/>
        </p:nvSpPr>
        <p:spPr>
          <a:xfrm>
            <a:off x="2359152" y="461772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40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notation, in three symbols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out loud and they stop looking scary.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P(A)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3375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“probability of A”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0690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event A is on its own.  e.g. P(spam) = 0.05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480560" y="22860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∩ B)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3375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and B”  (joint)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40690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A and B happen together.  The ∩ means “</a:t>
            </a:r>
            <a:r>
              <a:rPr lang="en-US" sz="14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and”.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>
                <a:solidFill>
                  <a:srgbClr val="5B667A"/>
                </a:solidFill>
                <a:latin typeface="Calibri" pitchFamily="34" charset="0"/>
                <a:cs typeface="Calibri" pitchFamily="34" charset="-120"/>
              </a:rPr>
              <a:t>P(flaggged spam and among spam emails)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0" y="22860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| B)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3375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given B”  (conditional)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40690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A is once you already know B is true.  The | means “</a:t>
            </a:r>
            <a:r>
              <a:rPr lang="en-US" sz="140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given”.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>
                <a:solidFill>
                  <a:srgbClr val="5B667A"/>
                </a:solidFill>
                <a:latin typeface="Calibri" pitchFamily="34" charset="0"/>
                <a:cs typeface="Calibri" pitchFamily="34" charset="-120"/>
              </a:rPr>
              <a:t>P(detecting spam given spam email)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probability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know B happened, shrink your world down to just B — and ask how much of that world is also 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64008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9728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</a:t>
            </a:r>
            <a:r>
              <a:rPr lang="en-US" sz="3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28072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∩ B)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794760" y="3520440"/>
            <a:ext cx="2926080" cy="3200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794760" y="36118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406640" y="20574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8096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divide by P(B)?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8346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B is true throws away every outcome where B didn't happen. Dividing by P(B) rescales what's left so it adds back up to 1 — you're now measuring inside B's world only.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check:  of all flagged emails P(B), what fraction are flagged-and-truly-spam P(A ∩ B)?  That ratio is P(spam | flagged).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probability  (the product rule)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the conditional formula — multiply both sides by P(B) — and you get how to build a joint probability.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∩ B)</a:t>
            </a: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P(A | B) · P(B)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and B” = (chance of B) × (chance of A once B is known). And since “A and B” is the same as “B and A”, you can also build it the other way: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4526280"/>
            <a:ext cx="77724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94560" y="45262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 · P(B)</a:t>
            </a:r>
            <a:r>
              <a:rPr lang="en-US" sz="2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26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 | A) · P(A)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roads to the same joint probability. That equality is the hinge Bayes swings on.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product rule to Bayes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lines. No new ideas — just the last slide, rearranged.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product forms equal the same joint: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957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 · P(B)  =  P(B | A) · P(A)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291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both sides by P(B):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7216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  =  P(B | A) · P(A)  ÷  P(B)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Bayes' theorem.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504748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isolated  P(A | B)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Bayes' theorem, labelled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2011680" y="2148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</a:t>
            </a: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1874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 | A)</a:t>
            </a: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3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212080" y="2606040"/>
            <a:ext cx="420624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36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056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belief — what we want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11880" y="3977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611880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 | A)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4636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5056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clue fits 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3977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0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636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5056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before the clue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3977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189720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P(B)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4636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5056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common the clue is overall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P(B) come from?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P(B) is every way the clue can happen: from a true A, plus from a not-A. This is the law of total probability.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128016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P(B)</a:t>
            </a: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2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 | A) · P(A)</a:t>
            </a: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25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 | ¬A) · P(¬A)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¬A just means “not A” 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06908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42519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example — every “flag” the detector raises: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8006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P(flag)</a:t>
            </a:r>
            <a:r>
              <a:rPr lang="en-US" sz="2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21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 × 0.05</a:t>
            </a:r>
            <a:r>
              <a:rPr lang="en-US" sz="2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2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× 0.95</a:t>
            </a: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0.0545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true-spam flags  +  false-alarm flags  —  exactly the 54.5 / 1000 flags we counted by hand.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 numbers 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spam detector: P(spam)=0.05,  P(flag | spam)=0.90,  P(flag | not spam)=0.01.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97280" y="2331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 | flag)</a:t>
            </a: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98424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P(flag | spam) · P(spam)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120640" y="2697480"/>
            <a:ext cx="3108960" cy="3200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120640" y="2788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P(flag)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10698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463040" y="39776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6027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 × 0.05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377440" y="4315968"/>
            <a:ext cx="2743200" cy="3200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377440" y="44074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39776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</a:t>
            </a: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</a:t>
            </a:r>
            <a:r>
              <a:rPr lang="en-US" sz="3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  </a:t>
            </a: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the answer we got by counting 45 true flags out of 54.5 total. The equation and the tally are the same thing.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of it on one card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6916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69164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  =  P(A ∩ B) ÷ P(B)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788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 (product rule)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78892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∩ B)  =  P(A | B) · P(B)  =  P(B | A) · P(A)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97280" y="3886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8862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  =  P(B | A) · P(A)  ÷  P(B)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9728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(total prob.)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98348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P(B)  =  P(B | A) · P(A)  +  P(B | ¬A) · P(¬A)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lines. Everything else in Bayesian reasoning is built from these.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1634</TotalTime>
  <Words>3203</Words>
  <Application>Microsoft Macintosh PowerPoint</Application>
  <PresentationFormat>Widescreen</PresentationFormat>
  <Paragraphs>306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Shripada Hebbar Nellithadka [MAHE-MSIS]</cp:lastModifiedBy>
  <cp:revision>7</cp:revision>
  <dcterms:created xsi:type="dcterms:W3CDTF">2026-09-15T03:29:46Z</dcterms:created>
  <dcterms:modified xsi:type="dcterms:W3CDTF">2026-09-16T06:45:48Z</dcterms:modified>
</cp:coreProperties>
</file>