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301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208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6195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6916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kern="0" spc="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SENTIMENT ANALYSER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740581" y="2592859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 machine to tell a good review from a bad one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Bayes, trained by hand on seven movie reviews — every count, prior, likelihood and posterior worked out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572000"/>
            <a:ext cx="146304" cy="146304"/>
          </a:xfrm>
          <a:prstGeom prst="ellipse">
            <a:avLst/>
          </a:prstGeom>
          <a:solidFill>
            <a:srgbClr val="AEB9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207008" y="4572000"/>
            <a:ext cx="146304" cy="146304"/>
          </a:xfrm>
          <a:prstGeom prst="ellipse">
            <a:avLst/>
          </a:prstGeom>
          <a:solidFill>
            <a:srgbClr val="AEB9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591056" y="4572000"/>
            <a:ext cx="146304" cy="146304"/>
          </a:xfrm>
          <a:prstGeom prst="ellipse">
            <a:avLst/>
          </a:prstGeom>
          <a:solidFill>
            <a:srgbClr val="AEB9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975104" y="4572000"/>
            <a:ext cx="146304" cy="146304"/>
          </a:xfrm>
          <a:prstGeom prst="ellipse">
            <a:avLst/>
          </a:prstGeom>
          <a:solidFill>
            <a:srgbClr val="AEB9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359152" y="45720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goal, and the two phases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in a review's words, get back a label: positive or negative. Every model like this has two phases.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2286000"/>
            <a:ext cx="51206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51560" y="26060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TRAINING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291840"/>
            <a:ext cx="4434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labelled reviews and just count.
</a:t>
            </a: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many reviews are positive vs negative  → the </a:t>
            </a: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often each word shows up in each class  → the 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09360" y="2286000"/>
            <a:ext cx="5120640" cy="3108960"/>
          </a:xfrm>
          <a:prstGeom prst="roundRect">
            <a:avLst>
              <a:gd name="adj" fmla="val 3529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6629400" y="26060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PREDICTING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3291840"/>
            <a:ext cx="4434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brand-new review and apply Bayes.
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multiply the prior by each word's likelihood
•  do it for both classes, then normalise
•  bigger posterior wins  → the label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training corpus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short reviews, already labelled by hand — a few more positive than negative, as real datasets tend to be.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 (4 reviews)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2377440"/>
            <a:ext cx="5257800" cy="640080"/>
          </a:xfrm>
          <a:prstGeom prst="roundRect">
            <a:avLst>
              <a:gd name="adj" fmla="val 14286"/>
            </a:avLst>
          </a:prstGeom>
          <a:solidFill>
            <a:srgbClr val="E6F0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“great movie”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3154680"/>
            <a:ext cx="5257800" cy="640080"/>
          </a:xfrm>
          <a:prstGeom prst="roundRect">
            <a:avLst>
              <a:gd name="adj" fmla="val 14286"/>
            </a:avLst>
          </a:prstGeom>
          <a:solidFill>
            <a:srgbClr val="E6F0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1051560" y="315468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“great acting loved”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931920"/>
            <a:ext cx="5257800" cy="640080"/>
          </a:xfrm>
          <a:prstGeom prst="roundRect">
            <a:avLst>
              <a:gd name="adj" fmla="val 14286"/>
            </a:avLst>
          </a:prstGeom>
          <a:solidFill>
            <a:srgbClr val="E6F0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1051560" y="393192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“brilliant loved movie”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4709160"/>
            <a:ext cx="5257800" cy="640080"/>
          </a:xfrm>
          <a:prstGeom prst="roundRect">
            <a:avLst>
              <a:gd name="adj" fmla="val 14286"/>
            </a:avLst>
          </a:prstGeom>
          <a:solidFill>
            <a:srgbClr val="E6F0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1051560" y="470916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“loved great film”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178308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 (3 reviews)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72200" y="2377440"/>
            <a:ext cx="5257800" cy="640080"/>
          </a:xfrm>
          <a:prstGeom prst="roundRect">
            <a:avLst>
              <a:gd name="adj" fmla="val 14286"/>
            </a:avLst>
          </a:prstGeom>
          <a:solidFill>
            <a:srgbClr val="F7E7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6492240" y="237744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“boring movie”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172200" y="3154680"/>
            <a:ext cx="5257800" cy="640080"/>
          </a:xfrm>
          <a:prstGeom prst="roundRect">
            <a:avLst>
              <a:gd name="adj" fmla="val 14286"/>
            </a:avLst>
          </a:prstGeom>
          <a:solidFill>
            <a:srgbClr val="F7E7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6492240" y="315468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“terrible acting hated”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172200" y="3931920"/>
            <a:ext cx="5257800" cy="640080"/>
          </a:xfrm>
          <a:prstGeom prst="roundRect">
            <a:avLst>
              <a:gd name="adj" fmla="val 14286"/>
            </a:avLst>
          </a:prstGeom>
          <a:solidFill>
            <a:srgbClr val="F7E7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6492240" y="393192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“boring hated film”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7150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 is treated as a plain bag of words — which words appear, not their order. That's the “naive” simplification again.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① — the prior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reading any words: how common is each label? Just count the reviews — 7 in all, 4 positive and 3 negative.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525780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51560" y="3063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P(positive)  =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277063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520440" y="3429000"/>
            <a:ext cx="822960" cy="3200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3520440" y="352044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3063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 0.57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172200" y="2103120"/>
            <a:ext cx="525780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492240" y="3063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P(negative)  =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0" y="277063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961120" y="3429000"/>
            <a:ext cx="822960" cy="3200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8961120" y="352044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9921240" y="3063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 0.43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074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leans positive (4 vs 3), so the prior already tilts that way before a single word is read — and that tilt feeds into every prediction.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② — count every word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430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all positive reviews together, all negatives together, and tally how often each word appears.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194560" y="1600200"/>
            <a:ext cx="7772400" cy="43891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2468880" y="160020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60020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AE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POSITIVE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160020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E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NEGATIVE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194560" y="2039112"/>
            <a:ext cx="77724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2468880" y="20391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20391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0391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194560" y="2404872"/>
            <a:ext cx="7772400" cy="365760"/>
          </a:xfrm>
          <a:prstGeom prst="rect">
            <a:avLst/>
          </a:prstGeom>
          <a:solidFill>
            <a:srgbClr val="E9E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2468880" y="24048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4048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24048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194560" y="2770632"/>
            <a:ext cx="77724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2468880" y="27706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7706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27706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2194560" y="3136392"/>
            <a:ext cx="7772400" cy="365760"/>
          </a:xfrm>
          <a:prstGeom prst="rect">
            <a:avLst/>
          </a:prstGeom>
          <a:solidFill>
            <a:srgbClr val="E9E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2468880" y="31363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loved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31363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0" y="31363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2194560" y="3502152"/>
            <a:ext cx="77724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2468880" y="3502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brilliant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35021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46720" y="35021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2194560" y="3867912"/>
            <a:ext cx="7772400" cy="365760"/>
          </a:xfrm>
          <a:prstGeom prst="rect">
            <a:avLst/>
          </a:prstGeom>
          <a:solidFill>
            <a:srgbClr val="E9E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2468880" y="38679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126480" y="38679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38679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2194560" y="4233672"/>
            <a:ext cx="77724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 txBox="1"/>
          <p:nvPr/>
        </p:nvSpPr>
        <p:spPr>
          <a:xfrm>
            <a:off x="2468880" y="42336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boring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126480" y="42336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046720" y="42336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2194560" y="4599432"/>
            <a:ext cx="7772400" cy="365760"/>
          </a:xfrm>
          <a:prstGeom prst="rect">
            <a:avLst/>
          </a:prstGeom>
          <a:solidFill>
            <a:srgbClr val="E9E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 txBox="1"/>
          <p:nvPr/>
        </p:nvSpPr>
        <p:spPr>
          <a:xfrm>
            <a:off x="2468880" y="4599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terrible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126480" y="45994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45994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2194560" y="4965192"/>
            <a:ext cx="77724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 txBox="1"/>
          <p:nvPr/>
        </p:nvSpPr>
        <p:spPr>
          <a:xfrm>
            <a:off x="2468880" y="49651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hated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126480" y="49651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8046720" y="49651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2194560" y="5330952"/>
            <a:ext cx="7772400" cy="365760"/>
          </a:xfrm>
          <a:prstGeom prst="rect">
            <a:avLst/>
          </a:prstGeom>
          <a:solidFill>
            <a:srgbClr val="2436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 txBox="1"/>
          <p:nvPr/>
        </p:nvSpPr>
        <p:spPr>
          <a:xfrm>
            <a:off x="2468880" y="53309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words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126480" y="53309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8046720" y="53309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= 9 distinct words.  The two classes even have different totals (11 vs 8) — nothing is forced to match.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③ — counts into likelihoods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430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likelihood is just a word's share of its class. But a raw zero would wipe out a whole review — so we add 1 to every count.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6035040" cy="2286000"/>
          </a:xfrm>
          <a:prstGeom prst="roundRect">
            <a:avLst>
              <a:gd name="adj" fmla="val 48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0584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P(word | class)  =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2313432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+ 1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931920" y="2971800"/>
            <a:ext cx="2560320" cy="320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3931920" y="306324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(class words) + (vocab)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6118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“+1” is Laplace smoothing:  no word is ever impossible.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040880" y="1920240"/>
            <a:ext cx="43891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7315200" y="208483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Denominators differ per class:
</a:t>
            </a:r>
            <a:r>
              <a:rPr lang="en-US" sz="13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= 11 + 9 = 20      neg = 8 + 9 = 17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69748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P(great | pos) = (3+1)/20 = </a:t>
            </a: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4/20
</a:t>
            </a:r>
            <a:r>
              <a:rPr lang="en-US" sz="14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P(great | neg) = (0+1)/17 = </a:t>
            </a:r>
            <a:r>
              <a:rPr lang="en-US" sz="14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1/17
</a:t>
            </a:r>
            <a:r>
              <a:rPr lang="en-US" sz="14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P(loved | pos) = (3+1)/20 = </a:t>
            </a: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4/20
</a:t>
            </a:r>
            <a:r>
              <a:rPr lang="en-US" sz="14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P(loved | neg) = (0+1)/17 = </a:t>
            </a:r>
            <a:r>
              <a:rPr lang="en-US" sz="14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1/17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480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+1, P(great | neg) would be 0 — and a single such word could zero out an entire class score. Smoothing keeps every word in the running.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trained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is done. This is everything the model “knows” — a prior and a smoothed likelihood per word.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10698480" cy="868680"/>
          </a:xfrm>
          <a:prstGeom prst="roundRect">
            <a:avLst>
              <a:gd name="adj" fmla="val 1052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97280" y="192024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Priors:   </a:t>
            </a:r>
            <a:r>
              <a:rPr lang="en-US" sz="1900" b="1" dirty="0">
                <a:solidFill>
                  <a:srgbClr val="9AE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P(pos) = 4/7 ≈ 0.57</a:t>
            </a:r>
            <a:r>
              <a:rPr lang="en-US" sz="1900" b="1" dirty="0">
                <a:solidFill>
                  <a:srgbClr val="FE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P(neg) = 3/7 ≈ 0.43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463040" y="3063240"/>
            <a:ext cx="9235440" cy="457200"/>
          </a:xfrm>
          <a:prstGeom prst="rect">
            <a:avLst/>
          </a:prstGeom>
          <a:solidFill>
            <a:srgbClr val="2436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1737360" y="3063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AE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P(word | pos)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E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P(word | neg)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463040" y="3520440"/>
            <a:ext cx="923544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1737360" y="352044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35204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4/20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35204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1/17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463040" y="3922776"/>
            <a:ext cx="9235440" cy="402336"/>
          </a:xfrm>
          <a:prstGeom prst="rect">
            <a:avLst/>
          </a:prstGeom>
          <a:solidFill>
            <a:srgbClr val="E9E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1737360" y="392277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loved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394960" y="392277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4/20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046720" y="392277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1/17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463040" y="4325112"/>
            <a:ext cx="923544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1737360" y="43251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394960" y="4325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3/20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046720" y="4325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2/17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463040" y="4727448"/>
            <a:ext cx="9235440" cy="402336"/>
          </a:xfrm>
          <a:prstGeom prst="rect">
            <a:avLst/>
          </a:prstGeom>
          <a:solidFill>
            <a:srgbClr val="E9E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1737360" y="472744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boring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394960" y="472744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1/20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046720" y="472744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3/17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463040" y="5129784"/>
            <a:ext cx="923544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1737360" y="5129784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hated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394960" y="512978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1/20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046720" y="512978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3/17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58064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(showing the words we'll need next; the other four words are stored the same way)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94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predict a new review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has never seen this one: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651760" y="2148840"/>
            <a:ext cx="6858000" cy="1280160"/>
          </a:xfrm>
          <a:prstGeom prst="roundRect">
            <a:avLst>
              <a:gd name="adj" fmla="val 10714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2651760" y="214884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loved great movie ”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40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it into its three words — order ignored, it's a bag of words: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108960" y="448056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3108960" y="44805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loved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212080" y="448056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5212080" y="44805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0" y="448056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7315200" y="44805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score it two ways — “if positive” and “if negative” — then compare.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it for each class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× the three word-likelihoods. (Same Bayes numerator as the spam and wolf examples.)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525780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51560" y="21945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POSITIVE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743200"/>
            <a:ext cx="4617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P(pos) × P(loved|pos) × P(great|pos) × P(movie|pos)
</a:t>
            </a: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0.57 ×  4/20  ×  4/20  ×  3/20
</a:t>
            </a: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0.57 × 0.20 × 0.20 × 0.15
</a:t>
            </a:r>
            <a:r>
              <a:rPr lang="en-US" sz="2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0.00343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965960"/>
            <a:ext cx="525780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6492240" y="21945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NEGATIVE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743200"/>
            <a:ext cx="4617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P(neg) × P(loved|neg) × P(great|neg) × P(movie|neg)
</a:t>
            </a: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 ×  1/17  ×  1/17  ×  2/17
</a:t>
            </a: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0.43 × 0.059 × 0.059 × 0.118
</a:t>
            </a:r>
            <a:r>
              <a:rPr lang="en-US" sz="24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0.00017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5321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already looks far larger — but let's turn the two scores into a real probability.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Evidence, then the answer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is just the two scores added — then divide to normalise.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463040" y="2057400"/>
            <a:ext cx="9235440" cy="1051560"/>
          </a:xfrm>
          <a:prstGeom prst="roundRect">
            <a:avLst>
              <a:gd name="adj" fmla="val 10435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463040" y="2057400"/>
            <a:ext cx="9235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=  </a:t>
            </a:r>
            <a:r>
              <a:rPr lang="en-US" sz="2000" b="1" dirty="0">
                <a:solidFill>
                  <a:srgbClr val="9AE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0.00343</a:t>
            </a: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</a:t>
            </a:r>
            <a:r>
              <a:rPr lang="en-US" sz="2000" b="1" dirty="0">
                <a:solidFill>
                  <a:srgbClr val="FE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0.00017</a:t>
            </a:r>
            <a:r>
              <a:rPr lang="en-US" sz="2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0.00360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463040" y="3520440"/>
            <a:ext cx="4617720" cy="1737360"/>
          </a:xfrm>
          <a:prstGeom prst="roundRect">
            <a:avLst>
              <a:gd name="adj" fmla="val 6316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1737360" y="370332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P(positive | review)
</a:t>
            </a:r>
            <a:r>
              <a:rPr lang="en-US" sz="1400" dirty="0">
                <a:solidFill>
                  <a:srgbClr val="E6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0.00343 / 0.00360  =  </a:t>
            </a: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172200" y="3520440"/>
            <a:ext cx="4617720" cy="1737360"/>
          </a:xfrm>
          <a:prstGeom prst="roundRect">
            <a:avLst>
              <a:gd name="adj" fmla="val 6316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446520" y="370332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P(negative | review)
</a:t>
            </a:r>
            <a:r>
              <a:rPr lang="en-US" sz="14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0.00017 / 0.00360  =  </a:t>
            </a:r>
            <a:r>
              <a:rPr lang="en-US" sz="4000" b="1" dirty="0">
                <a:solidFill>
                  <a:srgbClr val="FE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486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 POSITIVE, with 95% confidence.  The analyser works.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“+1” saved us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Suppose we'd skipped smoothing and used raw shares. “loved” never appeared in a negative review…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57800" cy="2377440"/>
          </a:xfrm>
          <a:prstGeom prst="roundRect">
            <a:avLst>
              <a:gd name="adj" fmla="val 4615"/>
            </a:avLst>
          </a:prstGeom>
          <a:solidFill>
            <a:srgbClr val="F7E7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05840" y="22860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smoothing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788920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P(loved|neg) = 0/8 = </a:t>
            </a:r>
            <a:r>
              <a:rPr lang="en-US" sz="16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
</a:t>
            </a: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0.43 × </a:t>
            </a:r>
            <a:r>
              <a:rPr lang="en-US" sz="16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… = </a:t>
            </a:r>
            <a:r>
              <a:rPr lang="en-US" sz="20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  <a:p>
            <a:pPr marL="0" indent="0">
              <a:lnSpc>
                <a:spcPct val="115000"/>
              </a:lnSpc>
              <a:buNone/>
            </a:pPr>
            <a:endParaRPr lang="en-US" sz="1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unseen word vetoes the whole class.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72200" y="2057400"/>
            <a:ext cx="5257800" cy="2377440"/>
          </a:xfrm>
          <a:prstGeom prst="roundRect">
            <a:avLst>
              <a:gd name="adj" fmla="val 4615"/>
            </a:avLst>
          </a:prstGeom>
          <a:solidFill>
            <a:srgbClr val="E6F0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6446520" y="22860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smoothing (+1)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788920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P(loved|neg) = (0+1)/17 = </a:t>
            </a:r>
            <a:r>
              <a:rPr lang="en-US" sz="16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1/17
</a:t>
            </a: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but not zero — the class stays</a:t>
            </a:r>
            <a:endParaRPr lang="en-US" sz="1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running and the </a:t>
            </a:r>
            <a:endParaRPr lang="en-US" sz="1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words</a:t>
            </a:r>
            <a:endParaRPr lang="en-US" sz="1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get their say.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8006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or unseen words are the norm in real text, so smoothing isn't optional — it's what makes Naive Bayes robust.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problem with real reviews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review had 3 words. A real one has hundreds — and every word multiplies in another number below 1.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106984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05840" y="2011680"/>
            <a:ext cx="10149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 </a:t>
            </a:r>
            <a:r>
              <a:rPr lang="en-US" sz="18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0.15 </a:t>
            </a:r>
            <a:r>
              <a:rPr lang="en-US" sz="18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0.06 </a:t>
            </a:r>
            <a:r>
              <a:rPr lang="en-US" sz="18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0.2 </a:t>
            </a:r>
            <a:r>
              <a:rPr lang="en-US" sz="18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… × </a:t>
            </a: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0.1</a:t>
            </a:r>
            <a:r>
              <a:rPr lang="en-US" sz="1500" i="1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the product keeps shrinking, fast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3520440"/>
            <a:ext cx="10698480" cy="1691640"/>
          </a:xfrm>
          <a:prstGeom prst="roundRect">
            <a:avLst>
              <a:gd name="adj" fmla="val 6486"/>
            </a:avLst>
          </a:prstGeom>
          <a:solidFill>
            <a:srgbClr val="C045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1051560" y="3520440"/>
            <a:ext cx="10241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~300 small probabilities and you reach about 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⁻⁹⁰⁰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smaller than the tiniest number a computer can hold (~10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⁻³⁰⁸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 It silently rounds to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both classes look equally impossible. The answer is lost.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called numeric underflow. We need a way to keep the numbers manageable — without changing the winner.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Logs turn × into +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property of logarithms we need: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1463040" y="2057400"/>
            <a:ext cx="9235440" cy="1280160"/>
          </a:xfrm>
          <a:prstGeom prst="roundRect">
            <a:avLst>
              <a:gd name="adj" fmla="val 8571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463040" y="2057400"/>
            <a:ext cx="9235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log(a × b)</a:t>
            </a:r>
            <a:r>
              <a:rPr lang="en-US" sz="3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log(a) + log(b)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118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shrinking product of many tiny numbers becomes a sum of moderate ones. So instead of multiplying probabilities, we add their logs: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463040" y="4434840"/>
            <a:ext cx="9235440" cy="1234440"/>
          </a:xfrm>
          <a:prstGeom prst="roundRect">
            <a:avLst>
              <a:gd name="adj" fmla="val 8889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1463040" y="4434840"/>
            <a:ext cx="9235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log-score</a:t>
            </a:r>
            <a:r>
              <a:rPr lang="en-US" sz="2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log P(class)  +  Σ log P(word | class)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Bayes numerator — just measured on a log scale, where multiply becomes add.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review, scored with logs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log of each number from slide “Score it for each class”, then just add them up.  (log = natural log, ln)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525780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51560" y="21945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74320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0.57            = −0.56
log 0.20 (loved)  = −1.61
log 0.20 (great)  = −1.61
log 0.15 (movie) = −1.90
</a:t>
            </a:r>
            <a:r>
              <a:rPr lang="en-US" sz="13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—————————————————
</a:t>
            </a:r>
            <a:r>
              <a:rPr lang="en-US" sz="22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log-score = −5.68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72200" y="1965960"/>
            <a:ext cx="525780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6492240" y="21945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74320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0.43             = −0.85
log 0.059 (loved) = −2.83
log 0.059 (great) = −2.83
log 0.118 (movie)= −2.14
</a:t>
            </a:r>
            <a:r>
              <a:rPr lang="en-US" sz="13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—————————————————
</a:t>
            </a:r>
            <a:r>
              <a:rPr lang="en-US" sz="22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log-score = −8.65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−5.68  is bigger than  −8.65,  so POSITIVE wins — the very same verdict, reached by adding four tidy numbers.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safe to do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3291840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51560" y="246888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5156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2918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is preserved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97764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always grows with its input, so the bigger product still has the bigger log. The winner never changes.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26280" y="2103120"/>
            <a:ext cx="3291840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246888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484632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32918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underflow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397764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numbers like −5.68 stays in comfortable range, even over hundreds of words. Nothing rounds to zero.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321040" y="2103120"/>
            <a:ext cx="3291840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641080" y="246888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86410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641080" y="32918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is enough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641080" y="397764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pick a class you just compare log-scores. Only if you need the actual probability do you exponentiate back.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2578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here was 8.65 − 5.68 = 2.97, and e²⁹⁷ ≈ 20 — so positive is about 20× more likely. The log gap even tells you by how much.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pipeline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5074920" cy="4206240"/>
          </a:xfrm>
          <a:prstGeom prst="roundRect">
            <a:avLst>
              <a:gd name="adj" fmla="val 2609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114300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  (count)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4231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reviews per label
</a:t>
            </a: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</a:t>
            </a: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P(class)
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words per label,
add-1 smooth
</a:t>
            </a: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</a:t>
            </a: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P(word|class)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63640" y="1600200"/>
            <a:ext cx="5074920" cy="4206240"/>
          </a:xfrm>
          <a:prstGeom prst="roundRect">
            <a:avLst>
              <a:gd name="adj" fmla="val 2609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58368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  (Bayes)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42316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class:  prior × ∏ likelihoods
</a:t>
            </a: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 score per class
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scores
</a:t>
            </a: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P(review)
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score by evidence
</a:t>
            </a: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</a:t>
            </a: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pick the bigger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Bayes word — prior, likelihood, evidence, posterior — shows up exactly once. That's the entire method.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just built — and its limits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working classifier from nothing but counts. The same recipe scales to thousands of reviews. But know its blind spots: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148840"/>
            <a:ext cx="329184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51560" y="251460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105156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337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Ignores word order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40690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“not good” and “good” look the same in a bag of words. Negation is invisible.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26280" y="2148840"/>
            <a:ext cx="329184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46320" y="251460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484632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3337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words are independent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40690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“naive” bet — wrong, but good enough to rank classes correctly.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0" y="2148840"/>
            <a:ext cx="329184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641080" y="251460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864108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641080" y="3337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knows its vocabulary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641080" y="40690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word never seen in training carries no signal at all.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2578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models (transformers) fix these by reading words in context — but they're doing a fancier version of the same job you just did by hand.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coin-flips to a classifier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92024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691640" y="187452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Counted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37744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turned a labelled corpus into a prior and word likelihoods.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20040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822960" y="3200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315468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Bayes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365760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a new review for each class and normalised.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448056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822960" y="4480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691640" y="44348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493776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 95% positive — a decision, from arithmetic.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897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four ideas ran through every deck: prior, likelihood, evidence, posterior. You've now seen them learn from data.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4257</TotalTime>
  <Words>2246</Words>
  <Application>Microsoft Macintosh PowerPoint</Application>
  <PresentationFormat>Widescreen</PresentationFormat>
  <Paragraphs>228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Shripada Hebbar Nellithadka [MAHE-MSIS]</cp:lastModifiedBy>
  <cp:revision>2</cp:revision>
  <dcterms:created xsi:type="dcterms:W3CDTF">2026-09-18T05:02:45Z</dcterms:created>
  <dcterms:modified xsi:type="dcterms:W3CDTF">2026-09-21T04:14:07Z</dcterms:modified>
</cp:coreProperties>
</file>